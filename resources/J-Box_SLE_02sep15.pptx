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298" r:id="rId5"/>
    <p:sldId id="513" r:id="rId6"/>
    <p:sldId id="514" r:id="rId7"/>
    <p:sldId id="525" r:id="rId8"/>
    <p:sldId id="527" r:id="rId9"/>
    <p:sldId id="534" r:id="rId10"/>
    <p:sldId id="516" r:id="rId11"/>
    <p:sldId id="515" r:id="rId12"/>
    <p:sldId id="535" r:id="rId13"/>
    <p:sldId id="528" r:id="rId14"/>
    <p:sldId id="524" r:id="rId15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C2D83"/>
    <a:srgbClr val="FFCC00"/>
    <a:srgbClr val="151C77"/>
    <a:srgbClr val="DDDDDD"/>
    <a:srgbClr val="C0C0C0"/>
    <a:srgbClr val="FF9900"/>
    <a:srgbClr val="CC66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3325" autoAdjust="0"/>
  </p:normalViewPr>
  <p:slideViewPr>
    <p:cSldViewPr snapToGrid="0">
      <p:cViewPr>
        <p:scale>
          <a:sx n="100" d="100"/>
          <a:sy n="100" d="100"/>
        </p:scale>
        <p:origin x="-1140" y="-84"/>
      </p:cViewPr>
      <p:guideLst>
        <p:guide orient="horz" pos="894"/>
        <p:guide pos="1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52"/>
    </p:cViewPr>
  </p:sorterViewPr>
  <p:notesViewPr>
    <p:cSldViewPr snapToGrid="0">
      <p:cViewPr>
        <p:scale>
          <a:sx n="50" d="100"/>
          <a:sy n="50" d="100"/>
        </p:scale>
        <p:origin x="-1182" y="288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.xml"/><Relationship Id="rId2" Type="http://schemas.openxmlformats.org/officeDocument/2006/relationships/oleObject" Target="file:///C:\Users\William.Lapach\AppData\Local\Microsoft\Windows\Temporary%20Internet%20Files\Content.Outlook\KNGZD3TG\LRUFail.xls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illiam.Lapach\Documents\__AFNWC\SLE-Modeling\SLE-Modeling-JBOX-01sep15-v05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8679668513658015"/>
          <c:y val="0.18274720656911816"/>
          <c:w val="0.76280378147176042"/>
          <c:h val="0.61889226237719608"/>
        </c:manualLayout>
      </c:layout>
      <c:scatterChart>
        <c:scatterStyle val="smoothMarker"/>
        <c:varyColors val="0"/>
        <c:ser>
          <c:idx val="0"/>
          <c:order val="0"/>
          <c:tx>
            <c:v>Wire J2F to J2K</c:v>
          </c:tx>
          <c:spPr>
            <a:ln>
              <a:noFill/>
            </a:ln>
          </c:spPr>
          <c:marker>
            <c:symbol val="square"/>
            <c:size val="5"/>
          </c:marker>
          <c:xVal>
            <c:numRef>
              <c:f>'J-Box Failure'!$J$2:$J$12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numCache>
            </c:numRef>
          </c:xVal>
          <c:yVal>
            <c:numRef>
              <c:f>'J-Box Failure'!$H$2:$H$12</c:f>
              <c:numCache>
                <c:formatCode>0.000</c:formatCode>
                <c:ptCount val="11"/>
                <c:pt idx="0">
                  <c:v>1.1559999999999999</c:v>
                </c:pt>
                <c:pt idx="1">
                  <c:v>1.1910000000000001</c:v>
                </c:pt>
                <c:pt idx="2">
                  <c:v>1.19</c:v>
                </c:pt>
                <c:pt idx="3" formatCode="General">
                  <c:v>1.1459999999999999</c:v>
                </c:pt>
                <c:pt idx="4" formatCode="General">
                  <c:v>1.171</c:v>
                </c:pt>
                <c:pt idx="5">
                  <c:v>1.0820000000000001</c:v>
                </c:pt>
                <c:pt idx="6">
                  <c:v>1.0860000000000001</c:v>
                </c:pt>
                <c:pt idx="7" formatCode="General">
                  <c:v>1.091</c:v>
                </c:pt>
                <c:pt idx="8" formatCode="General">
                  <c:v>1.083</c:v>
                </c:pt>
                <c:pt idx="9" formatCode="General">
                  <c:v>1.0720000000000001</c:v>
                </c:pt>
                <c:pt idx="10" formatCode="General">
                  <c:v>1.083</c:v>
                </c:pt>
              </c:numCache>
            </c:numRef>
          </c:yVal>
          <c:smooth val="1"/>
        </c:ser>
        <c:ser>
          <c:idx val="1"/>
          <c:order val="1"/>
          <c:tx>
            <c:v>Max</c:v>
          </c:tx>
          <c:marker>
            <c:symbol val="none"/>
          </c:marker>
          <c:xVal>
            <c:numRef>
              <c:f>'J-Box Failure'!$J$2:$J$12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numCache>
            </c:numRef>
          </c:xVal>
          <c:yVal>
            <c:numRef>
              <c:f>'J-Box Failure'!$G$2:$G$12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yVal>
          <c:smooth val="1"/>
        </c:ser>
        <c:ser>
          <c:idx val="2"/>
          <c:order val="2"/>
          <c:tx>
            <c:v>Min</c:v>
          </c:tx>
          <c:marker>
            <c:symbol val="none"/>
          </c:marker>
          <c:xVal>
            <c:numRef>
              <c:f>'J-Box Failure'!$J$2:$J$12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numCache>
            </c:numRef>
          </c:xVal>
          <c:yVal>
            <c:numRef>
              <c:f>'J-Box Failure'!$F$2:$F$12</c:f>
              <c:numCache>
                <c:formatCode>General</c:formatCode>
                <c:ptCount val="11"/>
                <c:pt idx="0">
                  <c:v>0.9</c:v>
                </c:pt>
                <c:pt idx="1">
                  <c:v>0.9</c:v>
                </c:pt>
                <c:pt idx="2">
                  <c:v>0.9</c:v>
                </c:pt>
                <c:pt idx="3">
                  <c:v>0.9</c:v>
                </c:pt>
                <c:pt idx="4">
                  <c:v>0.9</c:v>
                </c:pt>
                <c:pt idx="5">
                  <c:v>0.9</c:v>
                </c:pt>
                <c:pt idx="6">
                  <c:v>0.9</c:v>
                </c:pt>
                <c:pt idx="7">
                  <c:v>0.9</c:v>
                </c:pt>
                <c:pt idx="8">
                  <c:v>0.9</c:v>
                </c:pt>
                <c:pt idx="9">
                  <c:v>0.9</c:v>
                </c:pt>
                <c:pt idx="10">
                  <c:v>0.9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4077696"/>
        <c:axId val="114079232"/>
      </c:scatterChart>
      <c:valAx>
        <c:axId val="114077696"/>
        <c:scaling>
          <c:orientation val="minMax"/>
          <c:max val="11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14079232"/>
        <c:crosses val="autoZero"/>
        <c:crossBetween val="midCat"/>
        <c:majorUnit val="1"/>
      </c:valAx>
      <c:valAx>
        <c:axId val="114079232"/>
        <c:scaling>
          <c:orientation val="minMax"/>
          <c:max val="1.2"/>
          <c:min val="0.85000000000000009"/>
        </c:scaling>
        <c:delete val="0"/>
        <c:axPos val="l"/>
        <c:majorGridlines/>
        <c:numFmt formatCode="0.000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14077696"/>
        <c:crosses val="autoZero"/>
        <c:crossBetween val="midCat"/>
      </c:valAx>
    </c:plotArea>
    <c:plotVisOnly val="1"/>
    <c:dispBlanksAs val="gap"/>
    <c:showDLblsOverMax val="0"/>
  </c:chart>
  <c:spPr>
    <a:ln>
      <a:solidFill>
        <a:srgbClr val="000000">
          <a:lumMod val="75000"/>
          <a:lumOff val="25000"/>
        </a:srgbClr>
      </a:solidFill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2">
    <c:autoUpdate val="0"/>
  </c:externalData>
  <c:userShapes r:id="rId3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716907261592301"/>
          <c:y val="5.1400554097404488E-2"/>
          <c:w val="0.84871872265966763"/>
          <c:h val="0.69338363954505688"/>
        </c:manualLayout>
      </c:layout>
      <c:lineChart>
        <c:grouping val="standard"/>
        <c:varyColors val="0"/>
        <c:ser>
          <c:idx val="0"/>
          <c:order val="0"/>
          <c:tx>
            <c:strRef>
              <c:f>'Failure Mode Effects Model'!$D$15</c:f>
              <c:strCache>
                <c:ptCount val="1"/>
                <c:pt idx="0">
                  <c:v> Test Failure Probability</c:v>
                </c:pt>
              </c:strCache>
            </c:strRef>
          </c:tx>
          <c:cat>
            <c:numRef>
              <c:f>'Failure Mode Effects Model'!$A$16:$A$71</c:f>
              <c:numCache>
                <c:formatCode>General</c:formatCode>
                <c:ptCount val="56"/>
                <c:pt idx="0">
                  <c:v>1985</c:v>
                </c:pt>
                <c:pt idx="1">
                  <c:v>1986</c:v>
                </c:pt>
                <c:pt idx="2">
                  <c:v>1987</c:v>
                </c:pt>
                <c:pt idx="3">
                  <c:v>1988</c:v>
                </c:pt>
                <c:pt idx="4">
                  <c:v>1989</c:v>
                </c:pt>
                <c:pt idx="5">
                  <c:v>1990</c:v>
                </c:pt>
                <c:pt idx="6">
                  <c:v>1991</c:v>
                </c:pt>
                <c:pt idx="7">
                  <c:v>1992</c:v>
                </c:pt>
                <c:pt idx="8">
                  <c:v>1993</c:v>
                </c:pt>
                <c:pt idx="9">
                  <c:v>1994</c:v>
                </c:pt>
                <c:pt idx="10">
                  <c:v>1995</c:v>
                </c:pt>
                <c:pt idx="11">
                  <c:v>1996</c:v>
                </c:pt>
                <c:pt idx="12">
                  <c:v>1997</c:v>
                </c:pt>
                <c:pt idx="13">
                  <c:v>1998</c:v>
                </c:pt>
                <c:pt idx="14">
                  <c:v>1999</c:v>
                </c:pt>
                <c:pt idx="15">
                  <c:v>2000</c:v>
                </c:pt>
                <c:pt idx="16">
                  <c:v>2001</c:v>
                </c:pt>
                <c:pt idx="17">
                  <c:v>2002</c:v>
                </c:pt>
                <c:pt idx="18">
                  <c:v>2003</c:v>
                </c:pt>
                <c:pt idx="19">
                  <c:v>2004</c:v>
                </c:pt>
                <c:pt idx="20">
                  <c:v>2005</c:v>
                </c:pt>
                <c:pt idx="21">
                  <c:v>2006</c:v>
                </c:pt>
                <c:pt idx="22">
                  <c:v>2007</c:v>
                </c:pt>
                <c:pt idx="23">
                  <c:v>2008</c:v>
                </c:pt>
                <c:pt idx="24">
                  <c:v>2009</c:v>
                </c:pt>
                <c:pt idx="25">
                  <c:v>2010</c:v>
                </c:pt>
                <c:pt idx="26">
                  <c:v>2011</c:v>
                </c:pt>
                <c:pt idx="27">
                  <c:v>2012</c:v>
                </c:pt>
                <c:pt idx="28">
                  <c:v>2013</c:v>
                </c:pt>
                <c:pt idx="29">
                  <c:v>2014</c:v>
                </c:pt>
                <c:pt idx="30">
                  <c:v>2015</c:v>
                </c:pt>
                <c:pt idx="31">
                  <c:v>2016</c:v>
                </c:pt>
                <c:pt idx="32">
                  <c:v>2017</c:v>
                </c:pt>
                <c:pt idx="33">
                  <c:v>2018</c:v>
                </c:pt>
                <c:pt idx="34">
                  <c:v>2019</c:v>
                </c:pt>
                <c:pt idx="35">
                  <c:v>2020</c:v>
                </c:pt>
                <c:pt idx="36">
                  <c:v>2021</c:v>
                </c:pt>
                <c:pt idx="37">
                  <c:v>2022</c:v>
                </c:pt>
                <c:pt idx="38">
                  <c:v>2023</c:v>
                </c:pt>
                <c:pt idx="39">
                  <c:v>2024</c:v>
                </c:pt>
                <c:pt idx="40">
                  <c:v>2025</c:v>
                </c:pt>
                <c:pt idx="41">
                  <c:v>2026</c:v>
                </c:pt>
                <c:pt idx="42">
                  <c:v>2027</c:v>
                </c:pt>
                <c:pt idx="43">
                  <c:v>2028</c:v>
                </c:pt>
                <c:pt idx="44">
                  <c:v>2029</c:v>
                </c:pt>
                <c:pt idx="45">
                  <c:v>2030</c:v>
                </c:pt>
                <c:pt idx="46">
                  <c:v>2031</c:v>
                </c:pt>
                <c:pt idx="47">
                  <c:v>2032</c:v>
                </c:pt>
                <c:pt idx="48">
                  <c:v>2033</c:v>
                </c:pt>
                <c:pt idx="49">
                  <c:v>2034</c:v>
                </c:pt>
                <c:pt idx="50">
                  <c:v>2035</c:v>
                </c:pt>
                <c:pt idx="51">
                  <c:v>2036</c:v>
                </c:pt>
                <c:pt idx="52">
                  <c:v>2037</c:v>
                </c:pt>
                <c:pt idx="53">
                  <c:v>2038</c:v>
                </c:pt>
                <c:pt idx="54">
                  <c:v>2039</c:v>
                </c:pt>
                <c:pt idx="55">
                  <c:v>2040</c:v>
                </c:pt>
              </c:numCache>
            </c:numRef>
          </c:cat>
          <c:val>
            <c:numRef>
              <c:f>'Failure Mode Effects Model'!$D$16:$D$71</c:f>
              <c:numCache>
                <c:formatCode>0.000</c:formatCode>
                <c:ptCount val="56"/>
                <c:pt idx="0">
                  <c:v>1E-3</c:v>
                </c:pt>
                <c:pt idx="1">
                  <c:v>1E-3</c:v>
                </c:pt>
                <c:pt idx="2">
                  <c:v>1E-3</c:v>
                </c:pt>
                <c:pt idx="3">
                  <c:v>1E-3</c:v>
                </c:pt>
                <c:pt idx="4">
                  <c:v>1E-3</c:v>
                </c:pt>
                <c:pt idx="5">
                  <c:v>1E-3</c:v>
                </c:pt>
                <c:pt idx="6">
                  <c:v>1E-3</c:v>
                </c:pt>
                <c:pt idx="7">
                  <c:v>1E-3</c:v>
                </c:pt>
                <c:pt idx="8">
                  <c:v>1E-3</c:v>
                </c:pt>
                <c:pt idx="9">
                  <c:v>1E-3</c:v>
                </c:pt>
                <c:pt idx="10">
                  <c:v>1E-3</c:v>
                </c:pt>
                <c:pt idx="11">
                  <c:v>1E-3</c:v>
                </c:pt>
                <c:pt idx="12">
                  <c:v>1E-3</c:v>
                </c:pt>
                <c:pt idx="13">
                  <c:v>1E-3</c:v>
                </c:pt>
                <c:pt idx="14">
                  <c:v>1E-3</c:v>
                </c:pt>
                <c:pt idx="15">
                  <c:v>1.0249748439067378E-3</c:v>
                </c:pt>
                <c:pt idx="16">
                  <c:v>1.1997800209989668E-3</c:v>
                </c:pt>
                <c:pt idx="17">
                  <c:v>1.673983709365231E-3</c:v>
                </c:pt>
                <c:pt idx="18">
                  <c:v>2.5958446048612626E-3</c:v>
                </c:pt>
                <c:pt idx="19">
                  <c:v>4.1097039628145236E-3</c:v>
                </c:pt>
                <c:pt idx="20">
                  <c:v>6.3510802330004144E-3</c:v>
                </c:pt>
                <c:pt idx="21">
                  <c:v>9.4388348043318165E-3</c:v>
                </c:pt>
                <c:pt idx="22">
                  <c:v>1.3464002261762462E-2</c:v>
                </c:pt>
                <c:pt idx="23">
                  <c:v>1.8475283786540359E-2</c:v>
                </c:pt>
                <c:pt idx="24">
                  <c:v>2.4461841243766561E-2</c:v>
                </c:pt>
                <c:pt idx="25">
                  <c:v>3.1334922723303724E-2</c:v>
                </c:pt>
                <c:pt idx="26">
                  <c:v>3.891095024077712E-2</c:v>
                </c:pt>
                <c:pt idx="27">
                  <c:v>4.689985086520241E-2</c:v>
                </c:pt>
                <c:pt idx="28">
                  <c:v>5.4903317996571159E-2</c:v>
                </c:pt>
                <c:pt idx="29">
                  <c:v>6.2427916555995118E-2</c:v>
                </c:pt>
                <c:pt idx="30">
                  <c:v>6.8916989191386946E-2</c:v>
                </c:pt>
                <c:pt idx="31">
                  <c:v>7.3802757171556127E-2</c:v>
                </c:pt>
                <c:pt idx="32">
                  <c:v>7.6575739019453082E-2</c:v>
                </c:pt>
                <c:pt idx="33">
                  <c:v>7.6863125252943698E-2</c:v>
                </c:pt>
                <c:pt idx="34">
                  <c:v>7.4502312346054186E-2</c:v>
                </c:pt>
                <c:pt idx="35">
                  <c:v>6.9592356601620997E-2</c:v>
                </c:pt>
                <c:pt idx="36">
                  <c:v>6.2506779568771598E-2</c:v>
                </c:pt>
                <c:pt idx="37">
                  <c:v>5.3857332443208561E-2</c:v>
                </c:pt>
                <c:pt idx="38">
                  <c:v>4.4409640014726449E-2</c:v>
                </c:pt>
                <c:pt idx="39">
                  <c:v>3.49653630033466E-2</c:v>
                </c:pt>
                <c:pt idx="40">
                  <c:v>2.6236961840731904E-2</c:v>
                </c:pt>
                <c:pt idx="41">
                  <c:v>1.874536568326993E-2</c:v>
                </c:pt>
                <c:pt idx="42">
                  <c:v>1.2765053576740987E-2</c:v>
                </c:pt>
                <c:pt idx="43">
                  <c:v>8.3265247153737152E-3</c:v>
                </c:pt>
                <c:pt idx="44">
                  <c:v>5.2682853556393272E-3</c:v>
                </c:pt>
                <c:pt idx="45">
                  <c:v>3.3165416583029817E-3</c:v>
                </c:pt>
                <c:pt idx="46">
                  <c:v>2.1661733574690973E-3</c:v>
                </c:pt>
                <c:pt idx="47">
                  <c:v>1.5420681648480024E-3</c:v>
                </c:pt>
                <c:pt idx="48">
                  <c:v>1.2315641401381486E-3</c:v>
                </c:pt>
                <c:pt idx="49">
                  <c:v>1.0904695435768538E-3</c:v>
                </c:pt>
                <c:pt idx="50">
                  <c:v>1.0321634958402324E-3</c:v>
                </c:pt>
                <c:pt idx="51">
                  <c:v>1.0103514107261573E-3</c:v>
                </c:pt>
                <c:pt idx="52">
                  <c:v>1.0029997645543767E-3</c:v>
                </c:pt>
                <c:pt idx="53">
                  <c:v>1.0007784535254289E-3</c:v>
                </c:pt>
                <c:pt idx="54">
                  <c:v>1.0001798762232714E-3</c:v>
                </c:pt>
                <c:pt idx="55">
                  <c:v>1.0000367942121263E-3</c:v>
                </c:pt>
              </c:numCache>
            </c:numRef>
          </c:val>
          <c:smooth val="0"/>
        </c:ser>
        <c:ser>
          <c:idx val="3"/>
          <c:order val="1"/>
          <c:tx>
            <c:strRef>
              <c:f>'Failure Mode Effects Model'!$G$15</c:f>
              <c:strCache>
                <c:ptCount val="1"/>
                <c:pt idx="0">
                  <c:v>Ops Reliablility Impact</c:v>
                </c:pt>
              </c:strCache>
            </c:strRef>
          </c:tx>
          <c:cat>
            <c:numRef>
              <c:f>'Failure Mode Effects Model'!$A$16:$A$71</c:f>
              <c:numCache>
                <c:formatCode>General</c:formatCode>
                <c:ptCount val="56"/>
                <c:pt idx="0">
                  <c:v>1985</c:v>
                </c:pt>
                <c:pt idx="1">
                  <c:v>1986</c:v>
                </c:pt>
                <c:pt idx="2">
                  <c:v>1987</c:v>
                </c:pt>
                <c:pt idx="3">
                  <c:v>1988</c:v>
                </c:pt>
                <c:pt idx="4">
                  <c:v>1989</c:v>
                </c:pt>
                <c:pt idx="5">
                  <c:v>1990</c:v>
                </c:pt>
                <c:pt idx="6">
                  <c:v>1991</c:v>
                </c:pt>
                <c:pt idx="7">
                  <c:v>1992</c:v>
                </c:pt>
                <c:pt idx="8">
                  <c:v>1993</c:v>
                </c:pt>
                <c:pt idx="9">
                  <c:v>1994</c:v>
                </c:pt>
                <c:pt idx="10">
                  <c:v>1995</c:v>
                </c:pt>
                <c:pt idx="11">
                  <c:v>1996</c:v>
                </c:pt>
                <c:pt idx="12">
                  <c:v>1997</c:v>
                </c:pt>
                <c:pt idx="13">
                  <c:v>1998</c:v>
                </c:pt>
                <c:pt idx="14">
                  <c:v>1999</c:v>
                </c:pt>
                <c:pt idx="15">
                  <c:v>2000</c:v>
                </c:pt>
                <c:pt idx="16">
                  <c:v>2001</c:v>
                </c:pt>
                <c:pt idx="17">
                  <c:v>2002</c:v>
                </c:pt>
                <c:pt idx="18">
                  <c:v>2003</c:v>
                </c:pt>
                <c:pt idx="19">
                  <c:v>2004</c:v>
                </c:pt>
                <c:pt idx="20">
                  <c:v>2005</c:v>
                </c:pt>
                <c:pt idx="21">
                  <c:v>2006</c:v>
                </c:pt>
                <c:pt idx="22">
                  <c:v>2007</c:v>
                </c:pt>
                <c:pt idx="23">
                  <c:v>2008</c:v>
                </c:pt>
                <c:pt idx="24">
                  <c:v>2009</c:v>
                </c:pt>
                <c:pt idx="25">
                  <c:v>2010</c:v>
                </c:pt>
                <c:pt idx="26">
                  <c:v>2011</c:v>
                </c:pt>
                <c:pt idx="27">
                  <c:v>2012</c:v>
                </c:pt>
                <c:pt idx="28">
                  <c:v>2013</c:v>
                </c:pt>
                <c:pt idx="29">
                  <c:v>2014</c:v>
                </c:pt>
                <c:pt idx="30">
                  <c:v>2015</c:v>
                </c:pt>
                <c:pt idx="31">
                  <c:v>2016</c:v>
                </c:pt>
                <c:pt idx="32">
                  <c:v>2017</c:v>
                </c:pt>
                <c:pt idx="33">
                  <c:v>2018</c:v>
                </c:pt>
                <c:pt idx="34">
                  <c:v>2019</c:v>
                </c:pt>
                <c:pt idx="35">
                  <c:v>2020</c:v>
                </c:pt>
                <c:pt idx="36">
                  <c:v>2021</c:v>
                </c:pt>
                <c:pt idx="37">
                  <c:v>2022</c:v>
                </c:pt>
                <c:pt idx="38">
                  <c:v>2023</c:v>
                </c:pt>
                <c:pt idx="39">
                  <c:v>2024</c:v>
                </c:pt>
                <c:pt idx="40">
                  <c:v>2025</c:v>
                </c:pt>
                <c:pt idx="41">
                  <c:v>2026</c:v>
                </c:pt>
                <c:pt idx="42">
                  <c:v>2027</c:v>
                </c:pt>
                <c:pt idx="43">
                  <c:v>2028</c:v>
                </c:pt>
                <c:pt idx="44">
                  <c:v>2029</c:v>
                </c:pt>
                <c:pt idx="45">
                  <c:v>2030</c:v>
                </c:pt>
                <c:pt idx="46">
                  <c:v>2031</c:v>
                </c:pt>
                <c:pt idx="47">
                  <c:v>2032</c:v>
                </c:pt>
                <c:pt idx="48">
                  <c:v>2033</c:v>
                </c:pt>
                <c:pt idx="49">
                  <c:v>2034</c:v>
                </c:pt>
                <c:pt idx="50">
                  <c:v>2035</c:v>
                </c:pt>
                <c:pt idx="51">
                  <c:v>2036</c:v>
                </c:pt>
                <c:pt idx="52">
                  <c:v>2037</c:v>
                </c:pt>
                <c:pt idx="53">
                  <c:v>2038</c:v>
                </c:pt>
                <c:pt idx="54">
                  <c:v>2039</c:v>
                </c:pt>
                <c:pt idx="55">
                  <c:v>2040</c:v>
                </c:pt>
              </c:numCache>
            </c:numRef>
          </c:cat>
          <c:val>
            <c:numRef>
              <c:f>'Failure Mode Effects Model'!$G$16:$G$71</c:f>
              <c:numCache>
                <c:formatCode>0.000</c:formatCode>
                <c:ptCount val="56"/>
                <c:pt idx="0">
                  <c:v>0.999</c:v>
                </c:pt>
                <c:pt idx="1">
                  <c:v>0.998</c:v>
                </c:pt>
                <c:pt idx="2">
                  <c:v>0.997</c:v>
                </c:pt>
                <c:pt idx="3">
                  <c:v>0.996</c:v>
                </c:pt>
                <c:pt idx="4">
                  <c:v>0.995</c:v>
                </c:pt>
                <c:pt idx="5">
                  <c:v>0.99399999999999999</c:v>
                </c:pt>
                <c:pt idx="6">
                  <c:v>0.99299999999999999</c:v>
                </c:pt>
                <c:pt idx="7">
                  <c:v>0.99199999999999999</c:v>
                </c:pt>
                <c:pt idx="8">
                  <c:v>0.99099999999999999</c:v>
                </c:pt>
                <c:pt idx="9">
                  <c:v>0.99</c:v>
                </c:pt>
                <c:pt idx="10">
                  <c:v>0.98899999999999999</c:v>
                </c:pt>
                <c:pt idx="11">
                  <c:v>0.98799999999999999</c:v>
                </c:pt>
                <c:pt idx="12">
                  <c:v>0.98699999999999999</c:v>
                </c:pt>
                <c:pt idx="13">
                  <c:v>0.98599999999999999</c:v>
                </c:pt>
                <c:pt idx="14">
                  <c:v>0.98499999999999999</c:v>
                </c:pt>
                <c:pt idx="15">
                  <c:v>0.98399999999999999</c:v>
                </c:pt>
                <c:pt idx="16">
                  <c:v>0.98299999999999998</c:v>
                </c:pt>
                <c:pt idx="17">
                  <c:v>0.98199999999999998</c:v>
                </c:pt>
                <c:pt idx="18">
                  <c:v>0.98099999999999998</c:v>
                </c:pt>
                <c:pt idx="19">
                  <c:v>0.98</c:v>
                </c:pt>
                <c:pt idx="20">
                  <c:v>0.97899999999999998</c:v>
                </c:pt>
                <c:pt idx="21">
                  <c:v>0.97799999999999998</c:v>
                </c:pt>
                <c:pt idx="22">
                  <c:v>0.97699999999999998</c:v>
                </c:pt>
                <c:pt idx="23">
                  <c:v>0.97599999999999998</c:v>
                </c:pt>
                <c:pt idx="24">
                  <c:v>0.97499999999999998</c:v>
                </c:pt>
                <c:pt idx="25">
                  <c:v>0.97399999999999998</c:v>
                </c:pt>
                <c:pt idx="26">
                  <c:v>0.97299999999999998</c:v>
                </c:pt>
                <c:pt idx="27">
                  <c:v>0.97199687812621949</c:v>
                </c:pt>
                <c:pt idx="28">
                  <c:v>0.97091259016818532</c:v>
                </c:pt>
                <c:pt idx="29">
                  <c:v>0.96952245105362056</c:v>
                </c:pt>
                <c:pt idx="30">
                  <c:v>0.96745265175401995</c:v>
                </c:pt>
                <c:pt idx="31">
                  <c:v>0.96418263015767525</c:v>
                </c:pt>
                <c:pt idx="32">
                  <c:v>0.95905111096894646</c:v>
                </c:pt>
                <c:pt idx="33">
                  <c:v>0.95126844703338886</c:v>
                </c:pt>
                <c:pt idx="34">
                  <c:v>0.9399384322261215</c:v>
                </c:pt>
                <c:pt idx="35">
                  <c:v>0.92409298631718217</c:v>
                </c:pt>
                <c:pt idx="36">
                  <c:v>0.90274282577828124</c:v>
                </c:pt>
                <c:pt idx="37">
                  <c:v>0.8749461812256577</c:v>
                </c:pt>
                <c:pt idx="38">
                  <c:v>0.83989556054163328</c:v>
                </c:pt>
                <c:pt idx="39">
                  <c:v>0.79701934205742453</c:v>
                </c:pt>
                <c:pt idx="40">
                  <c:v>0.74609069330730649</c:v>
                </c:pt>
                <c:pt idx="41">
                  <c:v>0.68733139458901382</c:v>
                </c:pt>
                <c:pt idx="42">
                  <c:v>0.62149353233923188</c:v>
                </c:pt>
                <c:pt idx="43">
                  <c:v>0.54989913400475077</c:v>
                </c:pt>
                <c:pt idx="44">
                  <c:v>0.4744183583103494</c:v>
                </c:pt>
                <c:pt idx="45">
                  <c:v>0.39737238258164626</c:v>
                </c:pt>
                <c:pt idx="46">
                  <c:v>0.3213583234065544</c:v>
                </c:pt>
                <c:pt idx="47">
                  <c:v>0.24900943150356819</c:v>
                </c:pt>
                <c:pt idx="48">
                  <c:v>0.18272133630305798</c:v>
                </c:pt>
                <c:pt idx="49">
                  <c:v>0.12438931334172301</c:v>
                </c:pt>
                <c:pt idx="50">
                  <c:v>7.5206811713792898E-2</c:v>
                </c:pt>
                <c:pt idx="51">
                  <c:v>3.5567739130854661E-2</c:v>
                </c:pt>
                <c:pt idx="52">
                  <c:v>5.0940267181882291E-3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3803648"/>
        <c:axId val="113805184"/>
      </c:lineChart>
      <c:catAx>
        <c:axId val="1138036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n-US"/>
          </a:p>
        </c:txPr>
        <c:crossAx val="113805184"/>
        <c:crosses val="autoZero"/>
        <c:auto val="1"/>
        <c:lblAlgn val="ctr"/>
        <c:lblOffset val="100"/>
        <c:noMultiLvlLbl val="0"/>
      </c:catAx>
      <c:valAx>
        <c:axId val="113805184"/>
        <c:scaling>
          <c:orientation val="minMax"/>
          <c:max val="1"/>
          <c:min val="0"/>
        </c:scaling>
        <c:delete val="0"/>
        <c:axPos val="l"/>
        <c:majorGridlines/>
        <c:numFmt formatCode="0.000" sourceLinked="1"/>
        <c:majorTickMark val="out"/>
        <c:minorTickMark val="none"/>
        <c:tickLblPos val="nextTo"/>
        <c:crossAx val="113803648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9.4776747817136381E-2"/>
          <c:y val="0.87886191309419659"/>
          <c:w val="0.88855664916885391"/>
          <c:h val="9.4128025663458723E-2"/>
        </c:manualLayout>
      </c:layout>
      <c:overlay val="0"/>
    </c:legend>
    <c:plotVisOnly val="1"/>
    <c:dispBlanksAs val="gap"/>
    <c:showDLblsOverMax val="0"/>
  </c:chart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0.21063</cdr:x>
      <cdr:y>0.05096</cdr:y>
    </cdr:from>
    <cdr:to>
      <cdr:x>0.93056</cdr:x>
      <cdr:y>0.15252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866706" y="162799"/>
          <a:ext cx="2962343" cy="32447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ctr"/>
          <a:r>
            <a:rPr lang="en-US" sz="1400" b="1" baseline="0" dirty="0" smtClean="0"/>
            <a:t>FY12 ACI J-Box Test - </a:t>
          </a:r>
          <a:r>
            <a:rPr lang="en-US" sz="1400" b="1" dirty="0" smtClean="0"/>
            <a:t>TN</a:t>
          </a:r>
          <a:r>
            <a:rPr lang="en-US" sz="1400" b="1" baseline="0" dirty="0" smtClean="0"/>
            <a:t> 01101 </a:t>
          </a:r>
          <a:endParaRPr lang="en-US" sz="1400" b="1" dirty="0"/>
        </a:p>
      </cdr:txBody>
    </cdr:sp>
  </cdr:relSizeAnchor>
  <cdr:relSizeAnchor xmlns:cdr="http://schemas.openxmlformats.org/drawingml/2006/chartDrawing">
    <cdr:from>
      <cdr:x>0.0105</cdr:x>
      <cdr:y>0.16146</cdr:y>
    </cdr:from>
    <cdr:to>
      <cdr:x>0.07176</cdr:x>
      <cdr:y>0.76823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43223" y="515847"/>
          <a:ext cx="252051" cy="193856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vert="vert270" wrap="square" rtlCol="0" anchor="ctr"/>
        <a:lstStyle xmlns:a="http://schemas.openxmlformats.org/drawingml/2006/main"/>
        <a:p xmlns:a="http://schemas.openxmlformats.org/drawingml/2006/main">
          <a:pPr algn="ctr"/>
          <a:r>
            <a:rPr lang="en-US" sz="1100" b="1" dirty="0"/>
            <a:t>Volt</a:t>
          </a:r>
        </a:p>
      </cdr:txBody>
    </cdr:sp>
  </cdr:relSizeAnchor>
  <cdr:relSizeAnchor xmlns:cdr="http://schemas.openxmlformats.org/drawingml/2006/chartDrawing">
    <cdr:from>
      <cdr:x>0.27825</cdr:x>
      <cdr:y>0.8664</cdr:y>
    </cdr:from>
    <cdr:to>
      <cdr:x>0.86574</cdr:x>
      <cdr:y>0.98619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1144943" y="2768053"/>
          <a:ext cx="2417407" cy="38271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/>
          <a:r>
            <a:rPr lang="en-US" sz="1100" b="1" dirty="0"/>
            <a:t>Number</a:t>
          </a:r>
          <a:r>
            <a:rPr lang="en-US" sz="1100" b="1" baseline="0" dirty="0"/>
            <a:t> of Samples</a:t>
          </a:r>
          <a:endParaRPr lang="en-US" sz="1100" b="1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37840" cy="4603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2645" tIns="46320" rIns="92645" bIns="463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2560" y="1"/>
            <a:ext cx="3037840" cy="4603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2645" tIns="46320" rIns="92645" bIns="463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829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3268"/>
            <a:ext cx="3037840" cy="4603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2645" tIns="46320" rIns="92645" bIns="463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829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2560" y="8823268"/>
            <a:ext cx="3037840" cy="4603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2645" tIns="46320" rIns="92645" bIns="463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7075997-3C20-4604-BD9E-8AB0E90F1C2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83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37840" cy="465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5" tIns="46320" rIns="92645" bIns="463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1"/>
            <a:ext cx="3037840" cy="465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5" tIns="46320" rIns="92645" bIns="463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99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6430"/>
            <a:ext cx="5140960" cy="4183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5" tIns="46320" rIns="92645" bIns="463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2"/>
            <a:ext cx="3037840" cy="4651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5" tIns="46320" rIns="92645" bIns="463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99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262"/>
            <a:ext cx="3037840" cy="4651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5" tIns="46320" rIns="92645" bIns="463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621FBAA-5B39-481F-A67F-A4B5172F9C8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5207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28DAAA-8118-4230-9055-3DFE9EB1AC15}" type="slidenum">
              <a:rPr lang="en-US"/>
              <a:pPr/>
              <a:t>1</a:t>
            </a:fld>
            <a:endParaRPr lang="en-US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Line 2"/>
          <p:cNvSpPr>
            <a:spLocks noChangeShapeType="1"/>
          </p:cNvSpPr>
          <p:nvPr/>
        </p:nvSpPr>
        <p:spPr bwMode="auto">
          <a:xfrm>
            <a:off x="381000" y="6451600"/>
            <a:ext cx="8382000" cy="0"/>
          </a:xfrm>
          <a:prstGeom prst="line">
            <a:avLst/>
          </a:prstGeom>
          <a:noFill/>
          <a:ln w="57150">
            <a:solidFill>
              <a:srgbClr val="0C2D8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1282700" y="1233488"/>
            <a:ext cx="655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i="1" spc="300" dirty="0" smtClean="0">
                <a:latin typeface="Century Schoolbook" pitchFamily="18" charset="0"/>
              </a:rPr>
              <a:t>The Nucleus</a:t>
            </a:r>
            <a:r>
              <a:rPr lang="en-US" sz="2000" b="1" i="1" spc="300" baseline="0" dirty="0" smtClean="0">
                <a:latin typeface="Century Schoolbook" pitchFamily="18" charset="0"/>
              </a:rPr>
              <a:t> of America’s Deterrent</a:t>
            </a:r>
            <a:endParaRPr lang="en-US" sz="2000" b="1" i="1" spc="300" dirty="0">
              <a:latin typeface="Century Schoolbook" pitchFamily="18" charset="0"/>
            </a:endParaRPr>
          </a:p>
        </p:txBody>
      </p:sp>
      <p:sp>
        <p:nvSpPr>
          <p:cNvPr id="50181" name="Line 5"/>
          <p:cNvSpPr>
            <a:spLocks noChangeShapeType="1"/>
          </p:cNvSpPr>
          <p:nvPr/>
        </p:nvSpPr>
        <p:spPr bwMode="auto">
          <a:xfrm>
            <a:off x="381000" y="1231900"/>
            <a:ext cx="8382000" cy="0"/>
          </a:xfrm>
          <a:prstGeom prst="line">
            <a:avLst/>
          </a:prstGeom>
          <a:noFill/>
          <a:ln w="57150">
            <a:solidFill>
              <a:srgbClr val="0C2D8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F9ADBD71-0E21-4D8B-BDF9-38E4195BE893}" type="slidenum">
              <a:rPr lang="en-US"/>
              <a:pPr/>
              <a:t>‹#›</a:t>
            </a:fld>
            <a:endParaRPr lang="en-US">
              <a:solidFill>
                <a:schemeClr val="bg2"/>
              </a:solidFill>
            </a:endParaRPr>
          </a:p>
        </p:txBody>
      </p:sp>
      <p:sp>
        <p:nvSpPr>
          <p:cNvPr id="50190" name="Text Box 14"/>
          <p:cNvSpPr txBox="1">
            <a:spLocks noChangeArrowheads="1"/>
          </p:cNvSpPr>
          <p:nvPr/>
        </p:nvSpPr>
        <p:spPr bwMode="auto">
          <a:xfrm>
            <a:off x="202178" y="500063"/>
            <a:ext cx="871424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b="1" i="1" dirty="0" smtClean="0"/>
              <a:t>AIR</a:t>
            </a:r>
            <a:r>
              <a:rPr lang="en-US" sz="3200" b="1" i="1" baseline="0" dirty="0" smtClean="0"/>
              <a:t> FORCE NUCLEAR WEAPONS  CENTER</a:t>
            </a:r>
            <a:endParaRPr lang="en-US" sz="3200" b="1" i="1" dirty="0"/>
          </a:p>
        </p:txBody>
      </p:sp>
      <p:sp>
        <p:nvSpPr>
          <p:cNvPr id="50191" name="Rectangle 15"/>
          <p:cNvSpPr>
            <a:spLocks noGrp="1" noChangeArrowheads="1"/>
          </p:cNvSpPr>
          <p:nvPr>
            <p:ph type="ctrTitle"/>
          </p:nvPr>
        </p:nvSpPr>
        <p:spPr>
          <a:xfrm>
            <a:off x="276225" y="1962150"/>
            <a:ext cx="8486775" cy="1600200"/>
          </a:xfrm>
        </p:spPr>
        <p:txBody>
          <a:bodyPr/>
          <a:lstStyle>
            <a:lvl1pPr>
              <a:defRPr sz="4400" i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11" name="Picture 10" descr="AFNWC Emblem 2 copy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9" y="3505200"/>
            <a:ext cx="2779822" cy="2744770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-12700" y="-1"/>
            <a:ext cx="91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FOR OFFICIAL USE ONLY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-12700" y="6550223"/>
            <a:ext cx="91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FOR OFFICIAL USE ONLY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Text Box 74"/>
          <p:cNvSpPr txBox="1">
            <a:spLocks noChangeArrowheads="1"/>
          </p:cNvSpPr>
          <p:nvPr userDrawn="1"/>
        </p:nvSpPr>
        <p:spPr bwMode="auto">
          <a:xfrm>
            <a:off x="3371735" y="6192749"/>
            <a:ext cx="237513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1" i="1" dirty="0" smtClean="0">
                <a:solidFill>
                  <a:srgbClr val="003296"/>
                </a:solidFill>
                <a:latin typeface="Times New Roman" pitchFamily="18" charset="0"/>
              </a:rPr>
              <a:t>Air Delivered Capabilities</a:t>
            </a:r>
            <a:r>
              <a:rPr lang="en-US" sz="1100" b="1" i="1" baseline="0" dirty="0" smtClean="0">
                <a:solidFill>
                  <a:srgbClr val="003296"/>
                </a:solidFill>
                <a:latin typeface="Times New Roman" pitchFamily="18" charset="0"/>
              </a:rPr>
              <a:t> </a:t>
            </a:r>
            <a:r>
              <a:rPr lang="en-US" sz="1100" b="1" i="1" dirty="0" smtClean="0">
                <a:solidFill>
                  <a:srgbClr val="003296"/>
                </a:solidFill>
                <a:latin typeface="Times New Roman" pitchFamily="18" charset="0"/>
              </a:rPr>
              <a:t>Directorate</a:t>
            </a:r>
            <a:endParaRPr lang="en-US" sz="1100" b="1" i="1" dirty="0">
              <a:solidFill>
                <a:srgbClr val="003296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9698CA-F41B-49E3-8C72-E26EC5CE9332}" type="slidenum">
              <a:rPr lang="en-US"/>
              <a:pPr/>
              <a:t>‹#›</a:t>
            </a:fld>
            <a:endParaRPr lang="en-US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As of: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5BF281C-EBCE-4D57-9718-BC56775F03EE}" type="slidenum">
              <a:rPr lang="en-US"/>
              <a:pPr/>
              <a:t>‹#›</a:t>
            </a:fld>
            <a:endParaRPr lang="en-US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6225" y="1504950"/>
            <a:ext cx="4122738" cy="4743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1363" y="1504950"/>
            <a:ext cx="4122737" cy="4743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As of: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052BB12-4D44-41F7-87E7-B446010EAB31}" type="slidenum">
              <a:rPr lang="en-US"/>
              <a:pPr/>
              <a:t>‹#›</a:t>
            </a:fld>
            <a:endParaRPr lang="en-US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As of: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363D7B0-CCAD-4B96-8350-316B5F61FA5F}" type="slidenum">
              <a:rPr lang="en-US"/>
              <a:pPr/>
              <a:t>‹#›</a:t>
            </a:fld>
            <a:endParaRPr lang="en-US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As of: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8276C3A-4C1F-4BDC-A923-67550020FCEC}" type="slidenum">
              <a:rPr lang="en-US"/>
              <a:pPr/>
              <a:t>‹#›</a:t>
            </a:fld>
            <a:endParaRPr lang="en-US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As of: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F9FCE8C-C758-46C5-9B09-9FA397DE3028}" type="slidenum">
              <a:rPr lang="en-US"/>
              <a:pPr/>
              <a:t>‹#›</a:t>
            </a:fld>
            <a:endParaRPr lang="en-US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As of: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1220473-FAA6-406B-920D-7AEF2E171C7A}" type="slidenum">
              <a:rPr lang="en-US"/>
              <a:pPr/>
              <a:t>‹#›</a:t>
            </a:fld>
            <a:endParaRPr lang="en-US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As of: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D0EBAE5-F258-4A33-83EE-735B667C3E4A}" type="slidenum">
              <a:rPr lang="en-US"/>
              <a:pPr/>
              <a:t>‹#›</a:t>
            </a:fld>
            <a:endParaRPr lang="en-US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As of: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59FF84E-03BB-4A73-BE15-95ADCB2BE804}" type="slidenum">
              <a:rPr lang="en-US"/>
              <a:pPr/>
              <a:t>‹#›</a:t>
            </a:fld>
            <a:endParaRPr lang="en-US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75438" y="76200"/>
            <a:ext cx="2132012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6225" y="76200"/>
            <a:ext cx="6246813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As of: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9639631-1FF7-4BC2-9C24-BA30B5F0C088}" type="slidenum">
              <a:rPr lang="en-US"/>
              <a:pPr/>
              <a:t>‹#›</a:t>
            </a:fld>
            <a:endParaRPr lang="en-US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10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24625"/>
            <a:ext cx="1219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00">
                <a:solidFill>
                  <a:srgbClr val="969696"/>
                </a:solidFill>
              </a:defRPr>
            </a:lvl1pPr>
          </a:lstStyle>
          <a:p>
            <a:r>
              <a:rPr lang="en-US"/>
              <a:t>As of: </a:t>
            </a:r>
          </a:p>
        </p:txBody>
      </p:sp>
      <p:sp>
        <p:nvSpPr>
          <p:cNvPr id="49156" name="Rectangle 102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88300" y="6524625"/>
            <a:ext cx="1143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969696"/>
                </a:solidFill>
              </a:defRPr>
            </a:lvl1pPr>
          </a:lstStyle>
          <a:p>
            <a:fld id="{F86E3B2A-88B2-45B8-A8A6-0DEDBE059617}" type="slidenum">
              <a:rPr lang="en-US"/>
              <a:pPr/>
              <a:t>‹#›</a:t>
            </a:fld>
            <a:endParaRPr lang="en-US">
              <a:solidFill>
                <a:schemeClr val="bg2"/>
              </a:solidFill>
            </a:endParaRPr>
          </a:p>
        </p:txBody>
      </p:sp>
      <p:sp>
        <p:nvSpPr>
          <p:cNvPr id="49157" name="Text Box 1029"/>
          <p:cNvSpPr txBox="1">
            <a:spLocks noChangeArrowheads="1"/>
          </p:cNvSpPr>
          <p:nvPr/>
        </p:nvSpPr>
        <p:spPr bwMode="auto">
          <a:xfrm>
            <a:off x="1295400" y="6491288"/>
            <a:ext cx="6553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i="1" spc="300" dirty="0" smtClean="0">
                <a:latin typeface="Century Schoolbook" pitchFamily="18" charset="0"/>
              </a:rPr>
              <a:t>The</a:t>
            </a:r>
            <a:r>
              <a:rPr lang="en-US" sz="1600" b="1" i="1" spc="300" baseline="0" dirty="0" smtClean="0">
                <a:latin typeface="Century Schoolbook" pitchFamily="18" charset="0"/>
              </a:rPr>
              <a:t> Nucleus of America’s Deterrent</a:t>
            </a:r>
            <a:endParaRPr lang="en-US" sz="1600" b="1" i="1" spc="300" dirty="0">
              <a:latin typeface="Century Schoolbook" pitchFamily="18" charset="0"/>
            </a:endParaRPr>
          </a:p>
        </p:txBody>
      </p:sp>
      <p:sp>
        <p:nvSpPr>
          <p:cNvPr id="49158" name="Rectangle 1030"/>
          <p:cNvSpPr>
            <a:spLocks noGrp="1" noChangeArrowheads="1"/>
          </p:cNvSpPr>
          <p:nvPr>
            <p:ph type="title"/>
          </p:nvPr>
        </p:nvSpPr>
        <p:spPr bwMode="auto">
          <a:xfrm>
            <a:off x="1663700" y="76200"/>
            <a:ext cx="71437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9163" name="Line 1035"/>
          <p:cNvSpPr>
            <a:spLocks noChangeShapeType="1"/>
          </p:cNvSpPr>
          <p:nvPr/>
        </p:nvSpPr>
        <p:spPr bwMode="auto">
          <a:xfrm>
            <a:off x="381000" y="6451600"/>
            <a:ext cx="8382000" cy="0"/>
          </a:xfrm>
          <a:prstGeom prst="line">
            <a:avLst/>
          </a:prstGeom>
          <a:noFill/>
          <a:ln w="57150">
            <a:solidFill>
              <a:srgbClr val="0C2D8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64" name="Line 1036"/>
          <p:cNvSpPr>
            <a:spLocks noChangeShapeType="1"/>
          </p:cNvSpPr>
          <p:nvPr/>
        </p:nvSpPr>
        <p:spPr bwMode="auto">
          <a:xfrm>
            <a:off x="381000" y="1231900"/>
            <a:ext cx="6400800" cy="0"/>
          </a:xfrm>
          <a:prstGeom prst="line">
            <a:avLst/>
          </a:prstGeom>
          <a:noFill/>
          <a:ln w="57150">
            <a:gradFill flip="none" rotWithShape="1">
              <a:gsLst>
                <a:gs pos="65000">
                  <a:srgbClr val="0C2D83"/>
                </a:gs>
                <a:gs pos="100000">
                  <a:schemeClr val="bg1"/>
                </a:gs>
              </a:gsLst>
              <a:lin ang="0" scaled="1"/>
              <a:tileRect/>
            </a:gra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68" name="Rectangle 104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6225" y="1504950"/>
            <a:ext cx="8397875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0"/>
            <a:r>
              <a:rPr lang="en-US" dirty="0" smtClean="0"/>
              <a:t>2nd Bullet</a:t>
            </a:r>
          </a:p>
        </p:txBody>
      </p:sp>
      <p:pic>
        <p:nvPicPr>
          <p:cNvPr id="10" name="Picture 9" descr="AFNWC Emblem 2 copy.png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39" y="167430"/>
            <a:ext cx="1008911" cy="996189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1" y="-1"/>
            <a:ext cx="91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FOR OFFICIAL USE ONLY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-25400" y="6176983"/>
            <a:ext cx="91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FOR OFFICIAL USE ONLY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Text Box 74"/>
          <p:cNvSpPr txBox="1">
            <a:spLocks noChangeArrowheads="1"/>
          </p:cNvSpPr>
          <p:nvPr userDrawn="1"/>
        </p:nvSpPr>
        <p:spPr bwMode="auto">
          <a:xfrm>
            <a:off x="5233224" y="1089130"/>
            <a:ext cx="3668713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1" i="1" dirty="0" smtClean="0">
                <a:solidFill>
                  <a:srgbClr val="003296"/>
                </a:solidFill>
                <a:latin typeface="Times New Roman" pitchFamily="18" charset="0"/>
              </a:rPr>
              <a:t>Air Delivered Capabilities</a:t>
            </a:r>
            <a:r>
              <a:rPr lang="en-US" sz="1100" b="1" i="1" baseline="0" dirty="0" smtClean="0">
                <a:solidFill>
                  <a:srgbClr val="003296"/>
                </a:solidFill>
                <a:latin typeface="Times New Roman" pitchFamily="18" charset="0"/>
              </a:rPr>
              <a:t> </a:t>
            </a:r>
            <a:r>
              <a:rPr lang="en-US" sz="1100" b="1" i="1" dirty="0" smtClean="0">
                <a:solidFill>
                  <a:srgbClr val="003296"/>
                </a:solidFill>
                <a:latin typeface="Times New Roman" pitchFamily="18" charset="0"/>
              </a:rPr>
              <a:t>Directorate</a:t>
            </a:r>
            <a:endParaRPr lang="en-US" sz="1100" b="1" i="1" dirty="0">
              <a:solidFill>
                <a:srgbClr val="003296"/>
              </a:solidFill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lvl1pPr algn="r" rtl="0" eaLnBrk="1" fontAlgn="base" hangingPunct="1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9pPr>
    </p:titleStyle>
    <p:bodyStyle>
      <a:lvl1pPr marL="285750" indent="-285750" algn="l" rtl="0" eaLnBrk="1" fontAlgn="base" hangingPunct="1">
        <a:spcBef>
          <a:spcPct val="50000"/>
        </a:spcBef>
        <a:spcAft>
          <a:spcPct val="0"/>
        </a:spcAft>
        <a:buClr>
          <a:srgbClr val="151C77"/>
        </a:buClr>
        <a:buSzPct val="8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88975" indent="-282575" algn="l" rtl="0" eaLnBrk="1" fontAlgn="base" hangingPunct="1">
        <a:spcBef>
          <a:spcPct val="25000"/>
        </a:spcBef>
        <a:spcAft>
          <a:spcPct val="0"/>
        </a:spcAft>
        <a:buClr>
          <a:srgbClr val="151C77"/>
        </a:buClr>
        <a:buSzPct val="80000"/>
        <a:buFont typeface="Wingdings" pitchFamily="2" charset="2"/>
        <a:buChar char="n"/>
        <a:defRPr sz="2000" b="1">
          <a:solidFill>
            <a:schemeClr val="tx1"/>
          </a:solidFill>
          <a:latin typeface="+mn-lt"/>
        </a:defRPr>
      </a:lvl2pPr>
      <a:lvl3pPr marL="1027113" indent="-223838" algn="l" rtl="0" eaLnBrk="1" fontAlgn="base" hangingPunct="1">
        <a:spcBef>
          <a:spcPct val="25000"/>
        </a:spcBef>
        <a:spcAft>
          <a:spcPct val="0"/>
        </a:spcAft>
        <a:buClr>
          <a:srgbClr val="151C77"/>
        </a:buClr>
        <a:buSzPct val="80000"/>
        <a:buFont typeface="Wingdings" pitchFamily="2" charset="2"/>
        <a:buChar char="n"/>
        <a:defRPr sz="2000" b="1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5000"/>
        </a:spcBef>
        <a:spcAft>
          <a:spcPct val="0"/>
        </a:spcAft>
        <a:buClr>
          <a:srgbClr val="151C77"/>
        </a:buClr>
        <a:buSzPct val="80000"/>
        <a:buFont typeface="Wingdings" pitchFamily="2" charset="2"/>
        <a:buChar char="n"/>
        <a:defRPr sz="2000" b="1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SzPct val="8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SzPct val="8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SzPct val="8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SzPct val="8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SzPct val="8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AF9A7C19-8A45-4571-AEAD-CAC2B59172C7}" type="slidenum">
              <a:rPr lang="en-US"/>
              <a:pPr/>
              <a:t>1</a:t>
            </a:fld>
            <a:endParaRPr lang="en-US">
              <a:solidFill>
                <a:schemeClr val="bg2"/>
              </a:solidFill>
            </a:endParaRPr>
          </a:p>
        </p:txBody>
      </p:sp>
      <p:sp>
        <p:nvSpPr>
          <p:cNvPr id="61443" name="Rectangle 3"/>
          <p:cNvSpPr>
            <a:spLocks noChangeArrowheads="1"/>
          </p:cNvSpPr>
          <p:nvPr/>
        </p:nvSpPr>
        <p:spPr bwMode="auto">
          <a:xfrm>
            <a:off x="457200" y="1544668"/>
            <a:ext cx="8305800" cy="214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/>
            <a:r>
              <a:rPr lang="en-US" sz="4000" b="1" dirty="0" smtClean="0">
                <a:solidFill>
                  <a:srgbClr val="151C77"/>
                </a:solidFill>
              </a:rPr>
              <a:t>Emerging Failure Mechanisms in the ALCM Power Distribution Box (J-Box)</a:t>
            </a:r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3886200" y="4116388"/>
            <a:ext cx="476885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r>
              <a:rPr lang="en-US" sz="2000" b="1" dirty="0" smtClean="0"/>
              <a:t>Bill LaPach</a:t>
            </a:r>
            <a:endParaRPr lang="en-US" sz="2000" b="1" dirty="0"/>
          </a:p>
          <a:p>
            <a:pPr algn="r"/>
            <a:r>
              <a:rPr lang="en-US" sz="2000" b="1" dirty="0" smtClean="0"/>
              <a:t>AFNWC/NDMEA</a:t>
            </a:r>
          </a:p>
          <a:p>
            <a:pPr algn="r"/>
            <a:r>
              <a:rPr lang="en-US" sz="2000" b="1" dirty="0" smtClean="0"/>
              <a:t>2 Sep 2015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225" y="1346200"/>
            <a:ext cx="8397875" cy="4902200"/>
          </a:xfrm>
        </p:spPr>
        <p:txBody>
          <a:bodyPr/>
          <a:lstStyle/>
          <a:p>
            <a:r>
              <a:rPr lang="en-US" dirty="0" smtClean="0"/>
              <a:t>The ALCM Power Distribution Box (J-Box</a:t>
            </a:r>
            <a:r>
              <a:rPr lang="en-US" dirty="0"/>
              <a:t>) </a:t>
            </a:r>
            <a:r>
              <a:rPr lang="en-US" dirty="0" smtClean="0"/>
              <a:t>experienced significant functional test failure rates in recent test cycles</a:t>
            </a:r>
          </a:p>
          <a:p>
            <a:pPr lvl="1"/>
            <a:r>
              <a:rPr lang="en-US" dirty="0" smtClean="0"/>
              <a:t>Functional tests are performed on several ALCM LRUs during Analytical Condition Inspection (ACI) at Hill AFB UT</a:t>
            </a:r>
          </a:p>
          <a:p>
            <a:pPr lvl="1"/>
            <a:r>
              <a:rPr lang="en-US" dirty="0" smtClean="0"/>
              <a:t>Functional failure rate for J-Box: FY12 = 45%; FY15 = 66%</a:t>
            </a:r>
          </a:p>
          <a:p>
            <a:pPr lvl="1"/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9698CA-F41B-49E3-8C72-E26EC5CE9332}" type="slidenum">
              <a:rPr lang="en-US" smtClean="0"/>
              <a:pPr/>
              <a:t>2</a:t>
            </a:fld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5205247"/>
              </p:ext>
            </p:extLst>
          </p:nvPr>
        </p:nvGraphicFramePr>
        <p:xfrm>
          <a:off x="2674620" y="3459480"/>
          <a:ext cx="3678512" cy="26586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19680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Gap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225" y="1371600"/>
            <a:ext cx="8629740" cy="4876800"/>
          </a:xfrm>
        </p:spPr>
        <p:txBody>
          <a:bodyPr/>
          <a:lstStyle/>
          <a:p>
            <a:r>
              <a:rPr lang="en-US" dirty="0"/>
              <a:t>Measureable detection of </a:t>
            </a:r>
            <a:r>
              <a:rPr lang="en-US" dirty="0" smtClean="0"/>
              <a:t>trend</a:t>
            </a:r>
            <a:r>
              <a:rPr lang="en-US" dirty="0" smtClean="0"/>
              <a:t>: </a:t>
            </a:r>
            <a:endParaRPr lang="en-US" dirty="0"/>
          </a:p>
          <a:p>
            <a:pPr lvl="1"/>
            <a:r>
              <a:rPr lang="en-US" dirty="0"/>
              <a:t>ALCM Level I </a:t>
            </a:r>
            <a:r>
              <a:rPr lang="en-US" dirty="0" smtClean="0"/>
              <a:t>Test </a:t>
            </a:r>
            <a:r>
              <a:rPr lang="en-US" dirty="0"/>
              <a:t>(TN 0840 – Pulse Load Bus voltage)</a:t>
            </a:r>
          </a:p>
          <a:p>
            <a:pPr lvl="1"/>
            <a:r>
              <a:rPr lang="en-US" dirty="0"/>
              <a:t>J-Box Level III test (TN 01101 – voltage across diode </a:t>
            </a:r>
            <a:r>
              <a:rPr lang="en-US" dirty="0" err="1"/>
              <a:t>assy</a:t>
            </a:r>
            <a:r>
              <a:rPr lang="en-US" dirty="0"/>
              <a:t>) </a:t>
            </a:r>
          </a:p>
          <a:p>
            <a:pPr lvl="2"/>
            <a:r>
              <a:rPr lang="en-US" dirty="0" smtClean="0"/>
              <a:t>CR4 diode assembly between battery and Pulse Load Bus</a:t>
            </a:r>
          </a:p>
          <a:p>
            <a:pPr lvl="2"/>
            <a:r>
              <a:rPr lang="en-US" dirty="0" smtClean="0"/>
              <a:t>Test parameter limits:</a:t>
            </a:r>
          </a:p>
          <a:p>
            <a:pPr lvl="3"/>
            <a:r>
              <a:rPr lang="en-US" dirty="0" smtClean="0"/>
              <a:t>Min  = 0.9 VDC</a:t>
            </a:r>
          </a:p>
          <a:p>
            <a:pPr lvl="3"/>
            <a:r>
              <a:rPr lang="en-US" dirty="0" smtClean="0"/>
              <a:t>Max = 1.0 VDC (+10%)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9698CA-F41B-49E3-8C72-E26EC5CE9332}" type="slidenum">
              <a:rPr lang="en-US" smtClean="0"/>
              <a:pPr/>
              <a:t>3</a:t>
            </a:fld>
            <a:endParaRPr lang="en-US">
              <a:solidFill>
                <a:schemeClr val="bg2"/>
              </a:solidFill>
            </a:endParaRPr>
          </a:p>
        </p:txBody>
      </p: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5577951" y="3220720"/>
            <a:ext cx="3190964" cy="2858588"/>
            <a:chOff x="4724400" y="2182448"/>
            <a:chExt cx="4668192" cy="4364402"/>
          </a:xfrm>
        </p:grpSpPr>
        <p:pic>
          <p:nvPicPr>
            <p:cNvPr id="15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336"/>
            <a:stretch/>
          </p:blipFill>
          <p:spPr bwMode="auto">
            <a:xfrm>
              <a:off x="4744392" y="2182448"/>
              <a:ext cx="4648200" cy="436440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6" name="Straight Connector 15"/>
            <p:cNvCxnSpPr/>
            <p:nvPr/>
          </p:nvCxnSpPr>
          <p:spPr>
            <a:xfrm>
              <a:off x="5562600" y="3810000"/>
              <a:ext cx="12954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6858000" y="3810000"/>
              <a:ext cx="0" cy="114300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5562600" y="4953000"/>
              <a:ext cx="12954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4724400" y="4572000"/>
              <a:ext cx="685800" cy="1143000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6858000" y="4436551"/>
              <a:ext cx="12954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>
              <a:off x="8069097" y="4180704"/>
              <a:ext cx="882285" cy="777258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70810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 I Test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314450"/>
            <a:ext cx="8397875" cy="4743450"/>
          </a:xfrm>
        </p:spPr>
        <p:txBody>
          <a:bodyPr/>
          <a:lstStyle/>
          <a:p>
            <a:pPr marL="285750" lvl="1" indent="-285750">
              <a:spcBef>
                <a:spcPct val="50000"/>
              </a:spcBef>
            </a:pPr>
            <a:r>
              <a:rPr lang="en-US" dirty="0"/>
              <a:t>Analysis of Level I TN 0840 identified trend in voltage </a:t>
            </a:r>
            <a:r>
              <a:rPr lang="en-US" dirty="0" smtClean="0"/>
              <a:t>on </a:t>
            </a:r>
            <a:r>
              <a:rPr lang="en-US" dirty="0"/>
              <a:t>Pulse Load Bus (.</a:t>
            </a:r>
            <a:r>
              <a:rPr lang="en-US" dirty="0" smtClean="0"/>
              <a:t>07 </a:t>
            </a:r>
            <a:r>
              <a:rPr lang="en-US" dirty="0"/>
              <a:t>volts / year)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Note: Trend seems to be attributable to tests at Minot AFB (possible culprit is thermal </a:t>
            </a:r>
            <a:r>
              <a:rPr lang="en-US" dirty="0" smtClean="0"/>
              <a:t>cycling)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9698CA-F41B-49E3-8C72-E26EC5CE9332}" type="slidenum">
              <a:rPr lang="en-US" smtClean="0"/>
              <a:pPr/>
              <a:t>4</a:t>
            </a:fld>
            <a:endParaRPr lang="en-US">
              <a:solidFill>
                <a:schemeClr val="bg2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12" y="2102790"/>
            <a:ext cx="4371975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4699" y="2102790"/>
            <a:ext cx="4371975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3565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200" y="114300"/>
            <a:ext cx="7518400" cy="1143000"/>
          </a:xfrm>
        </p:spPr>
        <p:txBody>
          <a:bodyPr/>
          <a:lstStyle/>
          <a:p>
            <a:r>
              <a:rPr lang="en-US" dirty="0"/>
              <a:t>Level </a:t>
            </a:r>
            <a:r>
              <a:rPr lang="en-US" dirty="0" smtClean="0"/>
              <a:t>III Functional Test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314450"/>
            <a:ext cx="8643384" cy="4743450"/>
          </a:xfrm>
        </p:spPr>
        <p:txBody>
          <a:bodyPr/>
          <a:lstStyle/>
          <a:p>
            <a:r>
              <a:rPr lang="en-US" dirty="0" smtClean="0"/>
              <a:t>Analysis of Level III TN 01101</a:t>
            </a:r>
          </a:p>
          <a:p>
            <a:pPr lvl="1"/>
            <a:r>
              <a:rPr lang="en-US" dirty="0" smtClean="0"/>
              <a:t>Of the first 12 ACI J-Boxes tested in FY2015, 8 tested “HIGH” (over the allowable threshold)</a:t>
            </a:r>
          </a:p>
          <a:p>
            <a:pPr lvl="1"/>
            <a:r>
              <a:rPr lang="en-US" dirty="0" smtClean="0"/>
              <a:t>This 66% test failure rate represents the accumulated risk that the corrosion failure mechanism will be severe enough to cause test failure of TN 01101 in any given J-Box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9698CA-F41B-49E3-8C72-E26EC5CE9332}" type="slidenum">
              <a:rPr lang="en-US" smtClean="0"/>
              <a:pPr/>
              <a:t>5</a:t>
            </a:fld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83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Findings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223" y="1358899"/>
            <a:ext cx="8809261" cy="4587875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Hill </a:t>
            </a:r>
            <a:r>
              <a:rPr lang="en-US" dirty="0"/>
              <a:t>AFB J-Box repair shop identified excessive corrosion on CR4 diode assembly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ALCM SPO contracted Boeing (ALCM OEM) to conduct J-Box aging study (results June 2014)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Corrosion on CR4 diode assembly stranded wire splice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Mounting torque of multiple diodes below spec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Sandia </a:t>
            </a:r>
            <a:r>
              <a:rPr lang="en-US" dirty="0" err="1" smtClean="0"/>
              <a:t>Natl</a:t>
            </a:r>
            <a:r>
              <a:rPr lang="en-US" dirty="0" smtClean="0"/>
              <a:t> Labs Corrosion Experts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Condensation caused by capillary action in crimped wires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Corrosion will continue to increase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9698CA-F41B-49E3-8C72-E26EC5CE9332}" type="slidenum">
              <a:rPr lang="en-US" smtClean="0"/>
              <a:pPr/>
              <a:t>6</a:t>
            </a:fld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827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Root Causes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223" y="1203325"/>
            <a:ext cx="8809261" cy="474345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Causes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Corrosion: J-Box design includes an uncoated stranded wire splice; </a:t>
            </a:r>
            <a:r>
              <a:rPr lang="en-US" dirty="0" smtClean="0"/>
              <a:t>does </a:t>
            </a:r>
            <a:r>
              <a:rPr lang="en-US" dirty="0"/>
              <a:t>not protect from moisture in surrounding air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dirty="0" smtClean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dirty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dirty="0" smtClean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dirty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dirty="0" smtClean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dirty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dirty="0" smtClean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dirty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Torque</a:t>
            </a:r>
            <a:r>
              <a:rPr lang="en-US" dirty="0"/>
              <a:t>: Expansion and contraction due to thermal cycles </a:t>
            </a:r>
            <a:r>
              <a:rPr lang="en-US" dirty="0" smtClean="0"/>
              <a:t>decreases torque on diode assembly mounting</a:t>
            </a:r>
            <a:endParaRPr lang="en-US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9698CA-F41B-49E3-8C72-E26EC5CE9332}" type="slidenum">
              <a:rPr lang="en-US" smtClean="0"/>
              <a:pPr/>
              <a:t>7</a:t>
            </a:fld>
            <a:endParaRPr lang="en-US">
              <a:solidFill>
                <a:schemeClr val="bg2"/>
              </a:solidFill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3" t="20667" r="37038" b="67778"/>
          <a:stretch>
            <a:fillRect/>
          </a:stretch>
        </p:blipFill>
        <p:spPr bwMode="auto">
          <a:xfrm>
            <a:off x="2500577" y="2421270"/>
            <a:ext cx="3931530" cy="2684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1697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Risk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225" y="1504950"/>
            <a:ext cx="8613775" cy="4743450"/>
          </a:xfrm>
        </p:spPr>
        <p:txBody>
          <a:bodyPr/>
          <a:lstStyle/>
          <a:p>
            <a:r>
              <a:rPr lang="en-US" dirty="0" smtClean="0"/>
              <a:t>Level III test spec for mounted CR4 diode assembly is 1.0 VDC max</a:t>
            </a:r>
          </a:p>
          <a:p>
            <a:r>
              <a:rPr lang="en-US" dirty="0" smtClean="0"/>
              <a:t>“Risk” to operational performance projected to begin when CR4 diode assembly voltage drop exceeds 2.0 VDC (difference between thermal battery nominal voltage and ALCM system </a:t>
            </a:r>
            <a:r>
              <a:rPr lang="en-US" dirty="0" err="1" smtClean="0"/>
              <a:t>rqmts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Boeing </a:t>
            </a:r>
            <a:r>
              <a:rPr lang="en-US" dirty="0"/>
              <a:t>determined that the critical CR4 diode assembly margin between functional test threshold and nominal operational power requirement is </a:t>
            </a:r>
            <a:r>
              <a:rPr lang="en-US" dirty="0" smtClean="0"/>
              <a:t>1 additional volt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9698CA-F41B-49E3-8C72-E26EC5CE9332}" type="slidenum">
              <a:rPr lang="en-US" smtClean="0"/>
              <a:pPr/>
              <a:t>8</a:t>
            </a:fld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031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Corrosion Maturity Timeline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Stranded wire corrosion in this environment fully matures in approximately 40 </a:t>
            </a:r>
            <a:r>
              <a:rPr lang="en-US" dirty="0" smtClean="0"/>
              <a:t>years (excessive failure potential)</a:t>
            </a:r>
            <a:endParaRPr lang="en-US" dirty="0" smtClean="0"/>
          </a:p>
          <a:p>
            <a:r>
              <a:rPr lang="en-US" dirty="0" smtClean="0"/>
              <a:t>MIL-HDBK-217B, para 2.14 (crimp connections) - </a:t>
            </a:r>
            <a:r>
              <a:rPr lang="en-US" dirty="0" smtClean="0"/>
              <a:t>environmental factors will multiply maturity of corrosion in a crimped connection</a:t>
            </a:r>
          </a:p>
          <a:p>
            <a:r>
              <a:rPr lang="en-US" dirty="0" smtClean="0"/>
              <a:t>Projected failure mechanism distribution curve for the Level III functional test indicates an accumulative 10% probability was likely present by 2008, growing to 66% in 2015</a:t>
            </a:r>
          </a:p>
          <a:p>
            <a:pPr lvl="1"/>
            <a:r>
              <a:rPr lang="en-US" dirty="0" smtClean="0"/>
              <a:t>2008 – 10% (undetected)</a:t>
            </a:r>
          </a:p>
          <a:p>
            <a:pPr lvl="1"/>
            <a:r>
              <a:rPr lang="en-US" dirty="0" smtClean="0"/>
              <a:t>2012 – 45% (ACI results)</a:t>
            </a:r>
          </a:p>
          <a:p>
            <a:pPr lvl="1"/>
            <a:r>
              <a:rPr lang="en-US" dirty="0" smtClean="0"/>
              <a:t>2015 – 66% (ACI results)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9698CA-F41B-49E3-8C72-E26EC5CE9332}" type="slidenum">
              <a:rPr lang="en-US" smtClean="0"/>
              <a:pPr/>
              <a:t>9</a:t>
            </a:fld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810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Projected Reliability Impact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Level I TN 0840 trend (.07 VDC/</a:t>
            </a:r>
            <a:r>
              <a:rPr lang="en-US" dirty="0" err="1"/>
              <a:t>yr</a:t>
            </a:r>
            <a:r>
              <a:rPr lang="en-US" dirty="0"/>
              <a:t>) will span the remaining 0.9 volt margin to nominal operational requirement in </a:t>
            </a:r>
            <a:r>
              <a:rPr lang="en-US" dirty="0" smtClean="0"/>
              <a:t>13 </a:t>
            </a:r>
            <a:r>
              <a:rPr lang="en-US" dirty="0"/>
              <a:t>years</a:t>
            </a:r>
          </a:p>
          <a:p>
            <a:r>
              <a:rPr lang="en-US" dirty="0" smtClean="0"/>
              <a:t>Test failure rate distribution curve projected 13 years to reflect impending risk to operational performance</a:t>
            </a:r>
          </a:p>
          <a:p>
            <a:r>
              <a:rPr lang="en-US" dirty="0" smtClean="0"/>
              <a:t>Projected operational risk significantly increases in FY 2021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9698CA-F41B-49E3-8C72-E26EC5CE9332}" type="slidenum">
              <a:rPr lang="en-US" smtClean="0"/>
              <a:pPr/>
              <a:t>10</a:t>
            </a:fld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4695514"/>
              </p:ext>
            </p:extLst>
          </p:nvPr>
        </p:nvGraphicFramePr>
        <p:xfrm>
          <a:off x="695960" y="3451860"/>
          <a:ext cx="7620000" cy="284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" name="Straight Connector 6"/>
          <p:cNvCxnSpPr/>
          <p:nvPr/>
        </p:nvCxnSpPr>
        <p:spPr bwMode="auto">
          <a:xfrm flipV="1">
            <a:off x="4229100" y="4591050"/>
            <a:ext cx="0" cy="87058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/>
        </p:nvCxnSpPr>
        <p:spPr bwMode="auto">
          <a:xfrm flipV="1">
            <a:off x="5740400" y="3825240"/>
            <a:ext cx="0" cy="76581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Left-Right Arrow 8"/>
          <p:cNvSpPr/>
          <p:nvPr/>
        </p:nvSpPr>
        <p:spPr bwMode="auto">
          <a:xfrm>
            <a:off x="4244340" y="4356100"/>
            <a:ext cx="1496060" cy="459740"/>
          </a:xfrm>
          <a:prstGeom prst="left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13 years</a:t>
            </a:r>
          </a:p>
        </p:txBody>
      </p:sp>
    </p:spTree>
    <p:extLst>
      <p:ext uri="{BB962C8B-B14F-4D97-AF65-F5344CB8AC3E}">
        <p14:creationId xmlns:p14="http://schemas.microsoft.com/office/powerpoint/2010/main" val="190852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J-Box Service Life Projection = FY2021 </a:t>
            </a:r>
          </a:p>
          <a:p>
            <a:r>
              <a:rPr lang="en-US" dirty="0" smtClean="0"/>
              <a:t>Recommended Next Steps</a:t>
            </a:r>
          </a:p>
          <a:p>
            <a:pPr lvl="1"/>
            <a:r>
              <a:rPr lang="en-US" dirty="0"/>
              <a:t>Rate J-Box RED on ALCM Technical Assessment</a:t>
            </a:r>
          </a:p>
          <a:p>
            <a:pPr lvl="1"/>
            <a:r>
              <a:rPr lang="en-US" dirty="0" smtClean="0"/>
              <a:t>Assemble J-Box corrective action IPT</a:t>
            </a:r>
          </a:p>
          <a:p>
            <a:pPr lvl="1"/>
            <a:r>
              <a:rPr lang="en-US" dirty="0" smtClean="0"/>
              <a:t>Develop and track corrective actions</a:t>
            </a:r>
          </a:p>
          <a:p>
            <a:pPr lvl="1"/>
            <a:r>
              <a:rPr lang="en-US" dirty="0" smtClean="0"/>
              <a:t>Confirm and report results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9698CA-F41B-49E3-8C72-E26EC5CE9332}" type="slidenum">
              <a:rPr lang="en-US" smtClean="0"/>
              <a:pPr/>
              <a:t>11</a:t>
            </a:fld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8617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FNWC Official Slide Template v3">
  <a:themeElements>
    <a:clrScheme name="USAF(Unclas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USAF(Unclas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SAF(Unclas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AF(Unclas)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SAF(Unclas)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AF(Unclas)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AF(Unclas)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AF(Unclas)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AF(Unclas)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321B1731238E4CBFD81F0D8A84596B" ma:contentTypeVersion="0" ma:contentTypeDescription="Create a new document." ma:contentTypeScope="" ma:versionID="089ddc5dc3961edc347e4d60ba38decc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B970B0-7582-4A67-9A98-1B31764F0A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F28F75E6-F9A2-4F85-966A-4EDDA2B55D49}">
  <ds:schemaRefs>
    <ds:schemaRef ds:uri="http://www.w3.org/XML/1998/namespace"/>
    <ds:schemaRef ds:uri="http://purl.org/dc/elements/1.1/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F11E3FBB-EDEC-405F-8B10-4D03A0B4C19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AFNWC Official Slide Template v3</Template>
  <TotalTime>3015</TotalTime>
  <Words>599</Words>
  <Application>Microsoft Office PowerPoint</Application>
  <PresentationFormat>On-screen Show (4:3)</PresentationFormat>
  <Paragraphs>93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AFNWC Official Slide Template v3</vt:lpstr>
      <vt:lpstr>PowerPoint Presentation</vt:lpstr>
      <vt:lpstr>The Problem</vt:lpstr>
      <vt:lpstr>Performance Gap</vt:lpstr>
      <vt:lpstr>Level I Test Analysis</vt:lpstr>
      <vt:lpstr>Level III Functional Test Analysis</vt:lpstr>
      <vt:lpstr>Research Findings</vt:lpstr>
      <vt:lpstr>Root Causes</vt:lpstr>
      <vt:lpstr>Performance Risk</vt:lpstr>
      <vt:lpstr>Corrosion Maturity Timeline</vt:lpstr>
      <vt:lpstr>Projected Reliability Impact</vt:lpstr>
      <vt:lpstr>Summary</vt:lpstr>
    </vt:vector>
  </TitlesOfParts>
  <Company>U.S. Air Force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queendr</dc:creator>
  <cp:lastModifiedBy>Bill LaPach</cp:lastModifiedBy>
  <cp:revision>372</cp:revision>
  <cp:lastPrinted>2015-09-02T13:39:53Z</cp:lastPrinted>
  <dcterms:created xsi:type="dcterms:W3CDTF">2012-04-12T17:17:49Z</dcterms:created>
  <dcterms:modified xsi:type="dcterms:W3CDTF">2015-09-02T15:32:40Z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0x0101002A321B1731238E4CBFD81F0D8A84596B</vt:lpwstr>
  </property>
</Properties>
</file>